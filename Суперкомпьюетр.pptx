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-1762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38FCA-1DC1-4024-8703-9921625CA903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7CE21-57DF-4580-AD40-CC9EED3229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30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7CE21-57DF-4580-AD40-CC9EED3229D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38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33658839-E3C2-4FB4-A1E4-120AFFA085F4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0CEF67A0-E0F5-4E58-BBFB-D0409433652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116632"/>
            <a:ext cx="7772400" cy="936104"/>
          </a:xfrm>
        </p:spPr>
        <p:txBody>
          <a:bodyPr>
            <a:normAutofit fontScale="90000"/>
          </a:bodyPr>
          <a:lstStyle/>
          <a:p>
            <a:r>
              <a:rPr lang="ru-RU" sz="6600" dirty="0" err="1" smtClean="0"/>
              <a:t>Суперкомпьюетр</a:t>
            </a:r>
            <a:endParaRPr lang="ru-RU" sz="6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3573016"/>
            <a:ext cx="6858000" cy="9906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 descr="Dell соберет для нефтяников самый мощный промышленный суперкомпьютер в  истории / Хаб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16" y="1583854"/>
            <a:ext cx="8712968" cy="490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024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такое суперкомпьютер?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2060848"/>
            <a:ext cx="5904656" cy="3886200"/>
          </a:xfrm>
        </p:spPr>
        <p:txBody>
          <a:bodyPr/>
          <a:lstStyle/>
          <a:p>
            <a:r>
              <a:rPr lang="ru-RU" dirty="0"/>
              <a:t>Не просто «большой ПК», а массово-параллельная вычислительная система</a:t>
            </a:r>
            <a:r>
              <a:rPr lang="ru-RU" dirty="0" smtClean="0"/>
              <a:t>.</a:t>
            </a:r>
          </a:p>
          <a:p>
            <a:r>
              <a:rPr lang="ru-RU" dirty="0"/>
              <a:t>Состоит из тысяч узлов, работающих как единый механизм</a:t>
            </a:r>
            <a:r>
              <a:rPr lang="ru-RU" dirty="0" smtClean="0"/>
              <a:t>.</a:t>
            </a:r>
          </a:p>
          <a:p>
            <a:r>
              <a:rPr lang="ru-RU" dirty="0"/>
              <a:t>Цель: Разделение одной глобальной задачи на миллионы параллельных потоков.</a:t>
            </a:r>
          </a:p>
        </p:txBody>
      </p:sp>
      <p:pic>
        <p:nvPicPr>
          <p:cNvPr id="2050" name="Picture 2" descr="Суперкомпьютер Вышки достиг пиковой производительности в 1 Петафлопс –  Новости – Цифровой блок НИУ ВШЭ – Национальный исследовательский  университет «Высшая школа экономики»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840" y="980728"/>
            <a:ext cx="3187563" cy="212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03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332656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Метрики производительности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2132856"/>
            <a:ext cx="5184576" cy="338437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Ключевая метрика — </a:t>
            </a:r>
            <a:r>
              <a:rPr lang="ru-RU" b="1" dirty="0"/>
              <a:t>FLOPS</a:t>
            </a:r>
            <a:r>
              <a:rPr lang="ru-RU" dirty="0"/>
              <a:t> (операции с плавающей запятой в секунду</a:t>
            </a:r>
            <a:r>
              <a:rPr lang="ru-RU" dirty="0" smtClean="0"/>
              <a:t>).</a:t>
            </a:r>
          </a:p>
          <a:p>
            <a:endParaRPr lang="ru-RU" dirty="0" smtClean="0"/>
          </a:p>
          <a:p>
            <a:r>
              <a:rPr lang="ru-RU" dirty="0"/>
              <a:t>Современный рубеж — </a:t>
            </a:r>
            <a:r>
              <a:rPr lang="ru-RU" dirty="0" err="1"/>
              <a:t>Экзафлопс</a:t>
            </a:r>
            <a:r>
              <a:rPr lang="ru-RU" dirty="0"/>
              <a:t> </a:t>
            </a:r>
            <a:r>
              <a:rPr lang="ru-RU" dirty="0" smtClean="0"/>
              <a:t>(10**18 FLOPS).</a:t>
            </a:r>
          </a:p>
          <a:p>
            <a:endParaRPr lang="ru-RU" dirty="0" smtClean="0"/>
          </a:p>
          <a:p>
            <a:r>
              <a:rPr lang="ru-RU" dirty="0"/>
              <a:t>Фокус на математической точности (64-битные числа, FP64).</a:t>
            </a:r>
          </a:p>
        </p:txBody>
      </p:sp>
      <p:pic>
        <p:nvPicPr>
          <p:cNvPr id="3074" name="Picture 2" descr="Суперкомпьютеры-2014: итоги и перспектив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082" y="1988840"/>
            <a:ext cx="4044770" cy="278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5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620688"/>
            <a:ext cx="6781800" cy="952128"/>
          </a:xfrm>
        </p:spPr>
        <p:txBody>
          <a:bodyPr>
            <a:normAutofit fontScale="90000"/>
          </a:bodyPr>
          <a:lstStyle/>
          <a:p>
            <a:r>
              <a:rPr lang="ru-RU" dirty="0"/>
              <a:t>Эволюция архитектуры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772816"/>
            <a:ext cx="5472608" cy="38862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1970-е: Векторные процессоры (специализированные чипы, например Cray-1</a:t>
            </a:r>
            <a:r>
              <a:rPr lang="ru-RU" dirty="0" smtClean="0"/>
              <a:t>).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/>
              <a:t>2000-е: Кластеры на базе стандартных серверных CPU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/>
              <a:t>Современность: Гетерогенные системы (CPU + мощные GPU-ускорители).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37" y="1301924"/>
            <a:ext cx="1941359" cy="1903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 descr="Intel Pentium III (3) Xeon Processor Sealed New in Box 500 MHz, 512KB Cache  | eBa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38" y="3356992"/>
            <a:ext cx="1941359" cy="153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PU-серверы изнутри | entr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293096"/>
            <a:ext cx="2520280" cy="168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06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8912" cy="1008112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Устройство и </a:t>
            </a:r>
            <a:r>
              <a:rPr lang="ru-RU" dirty="0" err="1"/>
              <a:t>Интерконнект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700808"/>
            <a:ext cx="4223196" cy="4176464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Узел (</a:t>
            </a:r>
            <a:r>
              <a:rPr lang="en-US" b="1" dirty="0"/>
              <a:t>Node):</a:t>
            </a:r>
            <a:r>
              <a:rPr lang="en-US" dirty="0"/>
              <a:t> </a:t>
            </a:r>
            <a:r>
              <a:rPr lang="ru-RU" dirty="0"/>
              <a:t>Базовый блок (</a:t>
            </a:r>
            <a:r>
              <a:rPr lang="en-US" dirty="0"/>
              <a:t>CPU + RAM + GPU</a:t>
            </a:r>
            <a:r>
              <a:rPr lang="en-US" dirty="0" smtClean="0"/>
              <a:t>).</a:t>
            </a:r>
            <a:endParaRPr lang="ru-RU" dirty="0" smtClean="0"/>
          </a:p>
          <a:p>
            <a:endParaRPr lang="ru-RU" dirty="0"/>
          </a:p>
          <a:p>
            <a:r>
              <a:rPr lang="ru-RU" b="1" dirty="0" err="1"/>
              <a:t>Интерконнект</a:t>
            </a:r>
            <a:r>
              <a:rPr lang="ru-RU" b="1" dirty="0"/>
              <a:t>:</a:t>
            </a:r>
            <a:r>
              <a:rPr lang="ru-RU" dirty="0"/>
              <a:t> Сверхскоростная сеть между узлами (</a:t>
            </a:r>
            <a:r>
              <a:rPr lang="ru-RU" dirty="0" err="1"/>
              <a:t>InfiniBand</a:t>
            </a:r>
            <a:r>
              <a:rPr lang="ru-RU" dirty="0"/>
              <a:t>, </a:t>
            </a:r>
            <a:r>
              <a:rPr lang="ru-RU" dirty="0" err="1"/>
              <a:t>Slingshot</a:t>
            </a:r>
            <a:r>
              <a:rPr lang="ru-RU" dirty="0" smtClean="0"/>
              <a:t>).</a:t>
            </a:r>
          </a:p>
          <a:p>
            <a:endParaRPr lang="ru-RU" dirty="0"/>
          </a:p>
          <a:p>
            <a:r>
              <a:rPr lang="ru-RU" b="1" dirty="0"/>
              <a:t>Главный приоритет сети:</a:t>
            </a:r>
            <a:r>
              <a:rPr lang="ru-RU" dirty="0"/>
              <a:t> Минимальная задержка (</a:t>
            </a:r>
            <a:r>
              <a:rPr lang="ru-RU" dirty="0" err="1"/>
              <a:t>Latency</a:t>
            </a:r>
            <a:r>
              <a:rPr lang="ru-RU" dirty="0"/>
              <a:t>), а не только пропускная способность.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972" y="4437112"/>
            <a:ext cx="4320480" cy="2307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Все о Slingshot — ведущий интерконнект в секторе HPC MPI | Блог Serverf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972" y="1196752"/>
            <a:ext cx="4943670" cy="319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45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Программное </a:t>
            </a:r>
            <a:r>
              <a:rPr lang="ru-RU" dirty="0" smtClean="0"/>
              <a:t>обеспечение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916832"/>
            <a:ext cx="4104456" cy="4320480"/>
          </a:xfrm>
        </p:spPr>
        <p:txBody>
          <a:bodyPr>
            <a:noAutofit/>
          </a:bodyPr>
          <a:lstStyle/>
          <a:p>
            <a:r>
              <a:rPr lang="ru-RU" sz="2200" b="1" dirty="0"/>
              <a:t>ОС:</a:t>
            </a:r>
            <a:r>
              <a:rPr lang="ru-RU" sz="2200" dirty="0"/>
              <a:t> Практически 100% списка ТОП-500 работают на </a:t>
            </a:r>
            <a:r>
              <a:rPr lang="ru-RU" sz="2200" dirty="0" err="1"/>
              <a:t>кастомизированных</a:t>
            </a:r>
            <a:r>
              <a:rPr lang="ru-RU" sz="2200" dirty="0"/>
              <a:t> версиях </a:t>
            </a:r>
            <a:r>
              <a:rPr lang="ru-RU" sz="2200" dirty="0" err="1"/>
              <a:t>Linux</a:t>
            </a:r>
            <a:r>
              <a:rPr lang="ru-RU" sz="2200" dirty="0" smtClean="0"/>
              <a:t>.</a:t>
            </a:r>
            <a:endParaRPr lang="ru-RU" sz="2200" dirty="0"/>
          </a:p>
          <a:p>
            <a:r>
              <a:rPr lang="en-US" sz="2200" b="1" dirty="0"/>
              <a:t>MPI (Message Passing Interface):</a:t>
            </a:r>
            <a:r>
              <a:rPr lang="en-US" sz="2200" dirty="0"/>
              <a:t> </a:t>
            </a:r>
            <a:r>
              <a:rPr lang="ru-RU" sz="2200" dirty="0"/>
              <a:t>Стандарт для обмена данными между узлами</a:t>
            </a:r>
            <a:r>
              <a:rPr lang="ru-RU" sz="2200" dirty="0" smtClean="0"/>
              <a:t>.</a:t>
            </a:r>
            <a:endParaRPr lang="ru-RU" sz="2200" dirty="0"/>
          </a:p>
          <a:p>
            <a:r>
              <a:rPr lang="ru-RU" sz="2200" b="1" dirty="0" err="1"/>
              <a:t>OpenMP</a:t>
            </a:r>
            <a:r>
              <a:rPr lang="ru-RU" sz="2200" b="1" dirty="0"/>
              <a:t> / CUDA:</a:t>
            </a:r>
            <a:r>
              <a:rPr lang="ru-RU" sz="2200" dirty="0"/>
              <a:t> Стандарты для распараллеливания задач внутри одного узла</a:t>
            </a:r>
            <a:r>
              <a:rPr lang="ru-RU" dirty="0"/>
              <a:t>.</a:t>
            </a:r>
          </a:p>
        </p:txBody>
      </p:sp>
      <p:pic>
        <p:nvPicPr>
          <p:cNvPr id="6150" name="Picture 6" descr="C:\Users\gamev\Downloads\изображение-removebg-preview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478" y="404664"/>
            <a:ext cx="1555522" cy="1793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Message Passing Interface :: High Performance Compu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849016"/>
            <a:ext cx="429506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C:\Users\gamev\Downloads\изображение-removebg-preview(1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717032"/>
            <a:ext cx="3816424" cy="243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126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6781800" cy="864096"/>
          </a:xfrm>
        </p:spPr>
        <p:txBody>
          <a:bodyPr>
            <a:normAutofit fontScale="90000"/>
          </a:bodyPr>
          <a:lstStyle/>
          <a:p>
            <a:r>
              <a:rPr lang="ru-RU" dirty="0"/>
              <a:t>Питание и охлаждение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340768"/>
            <a:ext cx="4824536" cy="475252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Энергопотребление одной системы: 20–30 МВт (эквивалент небольшого города</a:t>
            </a:r>
            <a:r>
              <a:rPr lang="ru-RU" dirty="0" smtClean="0"/>
              <a:t>).</a:t>
            </a:r>
          </a:p>
          <a:p>
            <a:endParaRPr lang="ru-RU" dirty="0" smtClean="0"/>
          </a:p>
          <a:p>
            <a:r>
              <a:rPr lang="ru-RU" dirty="0"/>
              <a:t>Воздушное охлаждение не справляется с плотностью тепловыделения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/>
              <a:t>Современные решения: </a:t>
            </a:r>
            <a:r>
              <a:rPr lang="ru-RU" dirty="0" err="1" smtClean="0"/>
              <a:t>Direct-to-chip</a:t>
            </a:r>
            <a:r>
              <a:rPr lang="ru-RU" dirty="0" smtClean="0"/>
              <a:t> </a:t>
            </a:r>
            <a:r>
              <a:rPr lang="ru-RU" dirty="0"/>
              <a:t>(жидкость напрямую к чипам) и иммерсионное охлаждение (погружение плат в диэлектрическую жидкость).</a:t>
            </a:r>
          </a:p>
        </p:txBody>
      </p:sp>
      <p:pic>
        <p:nvPicPr>
          <p:cNvPr id="7170" name="Picture 2" descr="Understanding direct-to-chip cooling in HPC infrastructure: A deep dive  into liquid coo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232422"/>
            <a:ext cx="3384376" cy="19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Какую температуру необходимо поддерживать в серверных ЦОД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060848"/>
            <a:ext cx="2667814" cy="201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988" y="2348880"/>
            <a:ext cx="1656184" cy="1559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541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Практическое применение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2060848"/>
            <a:ext cx="5760640" cy="388620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Физика:</a:t>
            </a:r>
            <a:r>
              <a:rPr lang="ru-RU" dirty="0"/>
              <a:t> Моделирование термоядерного синтеза и квантовой механики</a:t>
            </a:r>
            <a:r>
              <a:rPr lang="ru-RU" dirty="0" smtClean="0"/>
              <a:t>.</a:t>
            </a:r>
          </a:p>
          <a:p>
            <a:r>
              <a:rPr lang="ru-RU" b="1" dirty="0"/>
              <a:t>Аэродинамика:</a:t>
            </a:r>
            <a:r>
              <a:rPr lang="ru-RU" dirty="0"/>
              <a:t> Отказ от части реальных продувок в аэродинамических трубах</a:t>
            </a:r>
            <a:r>
              <a:rPr lang="ru-RU" dirty="0" smtClean="0"/>
              <a:t>.</a:t>
            </a:r>
          </a:p>
          <a:p>
            <a:r>
              <a:rPr lang="ru-RU" b="1" dirty="0"/>
              <a:t>Биология:</a:t>
            </a:r>
            <a:r>
              <a:rPr lang="ru-RU" dirty="0"/>
              <a:t> Расчет </a:t>
            </a:r>
            <a:r>
              <a:rPr lang="ru-RU" dirty="0" err="1"/>
              <a:t>фолдинга</a:t>
            </a:r>
            <a:r>
              <a:rPr lang="ru-RU" dirty="0"/>
              <a:t> (свертывания) белков для создания новых лекарств</a:t>
            </a:r>
            <a:r>
              <a:rPr lang="ru-RU" dirty="0" smtClean="0"/>
              <a:t>.</a:t>
            </a:r>
          </a:p>
          <a:p>
            <a:r>
              <a:rPr lang="ru-RU" b="1" dirty="0"/>
              <a:t>ИИ:</a:t>
            </a:r>
            <a:r>
              <a:rPr lang="ru-RU" dirty="0"/>
              <a:t> Обучение масштабных языковых моделей (LLM).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816" y="453535"/>
            <a:ext cx="2630671" cy="1535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 descr="C:\Users\gamev\Downloads\изображение-removebg-preview(2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596" y="235964"/>
            <a:ext cx="2242220" cy="224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Фолдинг белка — Википеди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059" y="2223496"/>
            <a:ext cx="2756184" cy="122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Виртуальная аэродинамическая труба XFLR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789" y="3573016"/>
            <a:ext cx="1943400" cy="194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Gemini - Скачать логотип в векторе SVG или PNG без фона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370" y="3789040"/>
            <a:ext cx="1364197" cy="136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185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76672"/>
            <a:ext cx="8130480" cy="16002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Ограничения: «Стена памяти» и Закон Амдала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132856"/>
            <a:ext cx="5112568" cy="3886200"/>
          </a:xfrm>
        </p:spPr>
        <p:txBody>
          <a:bodyPr/>
          <a:lstStyle/>
          <a:p>
            <a:r>
              <a:rPr lang="ru-RU" b="1" dirty="0" err="1"/>
              <a:t>Memory</a:t>
            </a:r>
            <a:r>
              <a:rPr lang="ru-RU" b="1" dirty="0"/>
              <a:t> </a:t>
            </a:r>
            <a:r>
              <a:rPr lang="ru-RU" b="1" dirty="0" err="1"/>
              <a:t>Wall</a:t>
            </a:r>
            <a:r>
              <a:rPr lang="ru-RU" b="1" dirty="0"/>
              <a:t>:</a:t>
            </a:r>
            <a:r>
              <a:rPr lang="ru-RU" dirty="0"/>
              <a:t> Скорость процессоров растет быстрее, чем скорость доступа к оперативной памяти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/>
              <a:t>Закон Амдала:</a:t>
            </a:r>
            <a:r>
              <a:rPr lang="ru-RU" dirty="0"/>
              <a:t> Предельное ускорение программы ограничено той ее частью, которую нельзя распараллелить.</a:t>
            </a:r>
          </a:p>
        </p:txBody>
      </p:sp>
      <p:pic>
        <p:nvPicPr>
          <p:cNvPr id="9218" name="Picture 2" descr="Tearing Down the Memory W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490070"/>
            <a:ext cx="2304256" cy="122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Breaking Through the Memory Wall - ASTERA LABS, INC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730" y="2814712"/>
            <a:ext cx="3264727" cy="165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Закон Амдала | German Gorelkin Blo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022" y="4619890"/>
            <a:ext cx="3952142" cy="179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621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20688"/>
            <a:ext cx="6781800" cy="648072"/>
          </a:xfrm>
        </p:spPr>
        <p:txBody>
          <a:bodyPr>
            <a:normAutofit fontScale="90000"/>
          </a:bodyPr>
          <a:lstStyle/>
          <a:p>
            <a:r>
              <a:rPr lang="ru-RU" dirty="0"/>
              <a:t>Будущее архитектур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96752"/>
            <a:ext cx="4968552" cy="5112568"/>
          </a:xfrm>
        </p:spPr>
        <p:txBody>
          <a:bodyPr>
            <a:normAutofit/>
          </a:bodyPr>
          <a:lstStyle/>
          <a:p>
            <a:r>
              <a:rPr lang="ru-RU" b="1" dirty="0"/>
              <a:t>Кремний близок к пределу:</a:t>
            </a:r>
            <a:r>
              <a:rPr lang="ru-RU" dirty="0"/>
              <a:t> Размеры транзисторов упираются в законы квантовой физики</a:t>
            </a:r>
            <a:r>
              <a:rPr lang="ru-RU" dirty="0" smtClean="0"/>
              <a:t>.</a:t>
            </a:r>
          </a:p>
          <a:p>
            <a:r>
              <a:rPr lang="ru-RU" b="1" dirty="0" err="1"/>
              <a:t>Фотоника</a:t>
            </a:r>
            <a:r>
              <a:rPr lang="ru-RU" b="1" dirty="0"/>
              <a:t>:</a:t>
            </a:r>
            <a:r>
              <a:rPr lang="ru-RU" dirty="0"/>
              <a:t> Использование света вместо электронов для передачи данных внутри чипа</a:t>
            </a:r>
            <a:r>
              <a:rPr lang="ru-RU" dirty="0" smtClean="0"/>
              <a:t>.</a:t>
            </a:r>
          </a:p>
          <a:p>
            <a:r>
              <a:rPr lang="ru-RU" b="1" dirty="0"/>
              <a:t>Квантовые и </a:t>
            </a:r>
            <a:r>
              <a:rPr lang="ru-RU" b="1" dirty="0" err="1"/>
              <a:t>нейроморфные</a:t>
            </a:r>
            <a:r>
              <a:rPr lang="ru-RU" b="1" dirty="0"/>
              <a:t> сопроцессоры:</a:t>
            </a:r>
            <a:r>
              <a:rPr lang="ru-RU" dirty="0"/>
              <a:t> Интеграция узкоспециализированных ускорителей в классические кластеры.</a:t>
            </a:r>
          </a:p>
        </p:txBody>
      </p:sp>
      <p:sp>
        <p:nvSpPr>
          <p:cNvPr id="4" name="AutoShape 2" descr="США направили 75 миллионов долларов на разработку инновационных стеклянных  подложек для чипов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США направили 75 миллионов долларов на разработку инновационных стеклянных  подложек для чипов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080" y="1365672"/>
            <a:ext cx="3240360" cy="1606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 descr="Чип на энергии света работает в 100 раз быстрее обычных: что за технология  (фото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064" y="3068960"/>
            <a:ext cx="3384376" cy="171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9" name="Picture 9" descr="В России запущен в работу квантовый процессор с самой высокой точностью  среди отечественных устройств - CNew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282776"/>
            <a:ext cx="2016224" cy="182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07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332656"/>
            <a:ext cx="7704856" cy="1296144"/>
          </a:xfrm>
        </p:spPr>
        <p:txBody>
          <a:bodyPr>
            <a:normAutofit/>
          </a:bodyPr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pic>
        <p:nvPicPr>
          <p:cNvPr id="11272" name="Picture 8" descr="Лучшие суперкомпьютеры мира — как выглядят и зачем нужны? / Хаб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16832"/>
            <a:ext cx="7704856" cy="433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495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36</TotalTime>
  <Words>354</Words>
  <Application>Microsoft Office PowerPoint</Application>
  <PresentationFormat>Экран (4:3)</PresentationFormat>
  <Paragraphs>48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NewsPrint</vt:lpstr>
      <vt:lpstr>Суперкомпьюетр</vt:lpstr>
      <vt:lpstr>Что такое суперкомпьютер?</vt:lpstr>
      <vt:lpstr>Метрики производительности</vt:lpstr>
      <vt:lpstr>Эволюция архитектуры</vt:lpstr>
      <vt:lpstr>Устройство и Интерконнект</vt:lpstr>
      <vt:lpstr>Программное обеспечение</vt:lpstr>
      <vt:lpstr>Питание и охлаждение</vt:lpstr>
      <vt:lpstr>Практическое применение</vt:lpstr>
      <vt:lpstr>Ограничения: «Стена памяти» и Закон Амдала</vt:lpstr>
      <vt:lpstr>Будущее архитектур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Суперкомпьюетры</dc:title>
  <dc:creator>Виктор Кузнецов</dc:creator>
  <cp:lastModifiedBy>Виктор Кузнецов</cp:lastModifiedBy>
  <cp:revision>4</cp:revision>
  <dcterms:created xsi:type="dcterms:W3CDTF">2026-03-17T19:56:56Z</dcterms:created>
  <dcterms:modified xsi:type="dcterms:W3CDTF">2026-03-17T20:33:43Z</dcterms:modified>
</cp:coreProperties>
</file>